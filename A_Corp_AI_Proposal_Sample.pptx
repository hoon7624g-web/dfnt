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19050">
            <a:solidFill>
              <a:srgbClr val="1A1D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PROPOSAL · SAMPLE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274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9144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42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A사 품질·재고 운영 손실을</a:t>
            </a:r>
            <a:endParaRPr lang="en-US" sz="4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2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기반 데이터 통합으로</a:t>
            </a:r>
            <a:endParaRPr lang="en-US" sz="4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2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해결하기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소재 제조 중견기업 A사 대상 · </a:t>
            </a:r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도입 사업화 제안서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5303520"/>
            <a:ext cx="3657600" cy="0"/>
          </a:xfrm>
          <a:prstGeom prst="line">
            <a:avLst/>
          </a:prstGeom>
          <a:noFill/>
          <a:ln w="9525">
            <a:solidFill>
              <a:srgbClr val="1A1D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5669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윤상훈 · Sanghoon Yoon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hoon7624g@gmail.com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0" y="5943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spc="3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Sample Curriculum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AI 도입 제안서 · 윤상훈 · Sample for Dfinite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장 요약 · Executive Summary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D4D6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국문 요약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· </a:t>
            </a:r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A사는 납기 지연·재고 과잉·품질 불량이 반복되고 있으며, 원인 분석에 평균 3~5일이 소요됨.</a:t>
            </a:r>
            <a:endParaRPr lang="en-US" sz="125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· </a:t>
            </a:r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ERP·MES·품질 시스템의 데이터가 분리되어, 실무자가 '감'으로 판단해 대응.</a:t>
            </a:r>
            <a:endParaRPr lang="en-US" sz="125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 · </a:t>
            </a:r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데이터 통합 플랫폼 도입. 자연어로 원인을 질의하고, 조치안을 함께 제시받는 구조.</a:t>
            </a:r>
            <a:endParaRPr lang="en-US" sz="125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· </a:t>
            </a:r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분석 3~5일 → 30분 내. 연간 품질·재고 손실 약 7~12% 감축(1차 추정).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371600"/>
            <a:ext cx="0" cy="4846320"/>
          </a:xfrm>
          <a:prstGeom prst="line">
            <a:avLst/>
          </a:prstGeom>
          <a:noFill/>
          <a:ln w="6350">
            <a:solidFill>
              <a:srgbClr val="D4D6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· 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691640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</a:t>
            </a:r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 faces recurring delivery delays, excess inventory, and quality defects. Root-cause analysis takes 3–5 days.</a:t>
            </a:r>
            <a:endParaRPr lang="en-US" sz="125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· </a:t>
            </a:r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 across ERP, MES, and QMS force operators to rely on intuition.</a:t>
            </a:r>
            <a:endParaRPr lang="en-US" sz="125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</a:t>
            </a:r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 AI-based data integration platform. Query root causes in natural language; receive recommended actions alongside.</a:t>
            </a:r>
            <a:endParaRPr lang="en-US" sz="125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· </a:t>
            </a:r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time 3–5 days → under 30 min. Est. 7–12% annual reduction in quality/inventory loss.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AI 도입 제안서 · 윤상훈 · Sample for Dfinite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CLIENT CONTEXT · A사 현황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A사 현황과 과제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D4D6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A사는 국내 중견 소재 제조기업으로, 3개 공장·연매출 약 1,200억 원 규모. 최근 2년간 고객사 품질 클레임 및 재고 과잉 문제가 누적되며 운영 손실이 확대되고 있습니다.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611880" cy="2926080"/>
          </a:xfrm>
          <a:prstGeom prst="rect">
            <a:avLst/>
          </a:prstGeom>
          <a:solidFill>
            <a:srgbClr val="FAFAF9"/>
          </a:solidFill>
          <a:ln w="6350">
            <a:solidFill>
              <a:srgbClr val="D4D6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45720" cy="2926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buNone/>
            </a:pPr>
            <a:r>
              <a:rPr lang="en-US" sz="1600" dirty="0">
                <a:solidFill>
                  <a:srgbClr val="545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개 공장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충북·경북·인천 분산 운영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각기 다른 MES·품질 시스템 사용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2468880"/>
            <a:ext cx="3611880" cy="2926080"/>
          </a:xfrm>
          <a:prstGeom prst="rect">
            <a:avLst/>
          </a:prstGeom>
          <a:solidFill>
            <a:srgbClr val="FAFAF9"/>
          </a:solidFill>
          <a:ln w="6350">
            <a:solidFill>
              <a:srgbClr val="D4D6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2468880"/>
            <a:ext cx="45720" cy="2926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1,200</a:t>
            </a:r>
            <a:pPr indent="0" marL="0">
              <a:buNone/>
            </a:pPr>
            <a:r>
              <a:rPr lang="en-US" sz="1600" dirty="0">
                <a:solidFill>
                  <a:srgbClr val="545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억 원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452628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연매출 (2025년 기준)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4572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3년 CAGR 6.8%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2468880"/>
            <a:ext cx="3611880" cy="2926080"/>
          </a:xfrm>
          <a:prstGeom prst="rect">
            <a:avLst/>
          </a:prstGeom>
          <a:solidFill>
            <a:srgbClr val="FAFAF9"/>
          </a:solidFill>
          <a:ln w="6350">
            <a:solidFill>
              <a:srgbClr val="D4D6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468880"/>
            <a:ext cx="45720" cy="2926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3~5</a:t>
            </a:r>
            <a:pPr indent="0" marL="0">
              <a:buNone/>
            </a:pPr>
            <a:r>
              <a:rPr lang="en-US" sz="1600" dirty="0">
                <a:solidFill>
                  <a:srgbClr val="545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일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32104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이슈 원인 분석 소요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4572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 간 데이터 취합에 소요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구조 자체가 데이터 단절·판단 지연·운영 손실의 세 축으로 이어지고 있다는 것이 A사 내부 진단입니다.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AI 도입 제안서 · 윤상훈 · Sample for Dfinite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PROBLEM · 3대 운영 손실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3가지 운영 손실이 반복되고 있습니다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D4D6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내부 인터뷰 · 현장 방문 · 최근 12개월 운영 데이터 기반으로 정리한 세 가지 손실 유형입니다.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1247120" cy="1280160"/>
          </a:xfrm>
          <a:prstGeom prst="rect">
            <a:avLst/>
          </a:prstGeom>
          <a:solidFill>
            <a:srgbClr val="FAFAF9"/>
          </a:solidFill>
          <a:ln w="3810">
            <a:solidFill>
              <a:srgbClr val="D4D6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920240" y="2240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납기 지연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26974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주문 대비 납기 준수율 최근 6개월 평균 87%. 긴급 생산 조정으로 월 평균 3~4회 라인 재편성 발생.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5256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-13%p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05256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납기 준수율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11247120" cy="1280160"/>
          </a:xfrm>
          <a:prstGeom prst="rect">
            <a:avLst/>
          </a:prstGeom>
          <a:solidFill>
            <a:srgbClr val="FFFFFF"/>
          </a:solidFill>
          <a:ln w="3810">
            <a:solidFill>
              <a:srgbClr val="D4D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92024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과잉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20240" y="41148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완제품·반제품 재고 회전일수 92일. 동종 업계 평균(58일) 대비 1.58배. 관리 비용 연간 약 28억 원 추정.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52560" y="3657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+34일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52560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회전일수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11247120" cy="1280160"/>
          </a:xfrm>
          <a:prstGeom prst="rect">
            <a:avLst/>
          </a:prstGeom>
          <a:solidFill>
            <a:srgbClr val="FAFAF9"/>
          </a:solidFill>
          <a:ln w="3810">
            <a:solidFill>
              <a:srgbClr val="D4D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074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920240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불량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20240" y="5532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분기 고객 클레임 누적 17건. 원인 규명에 평균 3~5일 소요. 같은 패턴 재발률 약 40%.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52560" y="5074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052560" y="5760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원인 재발률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AI 도입 제안서 · 윤상훈 · Sample for Dfinite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ROOT CAUSE · 왜 반복되는가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원인은 개별 업무의 부족이 아니라, 데이터 구조의 단절입니다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D4D6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담당자분들과의 인터뷰에서 반복해서 나온 문장은 다음과 같습니다.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743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"원인을 찾으려면 ERP·MES·품질 시스템을 각각 열어서 엑셀로 따로 받아야 해요."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A사 · 품질관리팀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2743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918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"늘 보던 패턴이라 '아마 이것 때문일 거다'로 시작하는데, 확인에 3일은 걸립니다."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A사 · 생산계획팀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2743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5720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"같은 문제가 또 생기면 그때마다 다시 똑같이 찾아야 돼요. 축적이 안 되죠."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349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A사 · 공정기술팀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011680"/>
            <a:ext cx="5303520" cy="4023360"/>
          </a:xfrm>
          <a:prstGeom prst="rect">
            <a:avLst/>
          </a:prstGeom>
          <a:solidFill>
            <a:srgbClr val="E8EEF4"/>
          </a:solidFill>
          <a:ln w="6350">
            <a:solidFill>
              <a:srgbClr val="D4D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진단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25146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A사의 세 팀 모두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"성실히 일하고 있음에도 같은 문제가 반복"되는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구조에 갇혀 있습니다.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구조의 핵심은 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시스템별로 단절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되어 있어, 원인을 찾으려면 매번 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여러 시스템을 수동으로 연결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해야 한다는 점입니다.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 이 문제는 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 역량이 아니라 시스템 설계의 한계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 오는 것입니다.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AI 도입 제안서 · 윤상훈 · Sample for Dfinite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SOLUTION · 제안하는 해결책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기반 데이터 통합 플랫폼 도입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D4D6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A사의 기존 ERP·MES·품질 시스템을 교체하지 않고, 위에 올려 데이터를 연결하는 방식입니다.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1A1D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 연결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1371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29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ERP·MES·품질 시스템의 데이터를 기존 인프라 변경 없이 논리적으로 연결. 실시간 조회 가능.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 유지 · 추가 마이그레이션 불필요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51960" y="210312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1A1D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자연어 질의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26280" y="3246120"/>
            <a:ext cx="1371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429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"지난달 불량률이 가장 높았던 라인은?"처럼 자연어로 질문하면 여러 시스템을 가로질러 답변 제공.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26280" y="4754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실무자가 SQL·BI 도구 없이 직접 분석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0" y="210312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1A1D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원인·조치 동시 제시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21040" y="3246120"/>
            <a:ext cx="1371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3429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통계가 아니라, 과거 유사 사례·조치 이력을 학습해 "가장 가능성 높은 원인과 권장 조치" 동시 제시.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21040" y="4754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실무자 판단을 AI가 보조하는 구조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핵심은 새로운 시스템을 추가하는 것이 아니라, 이미 있는 데이터를 '쓸 수 있게' 만드는 작업입니다.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AI 도입 제안서 · 윤상훈 · Sample for Dfinite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HOW IT WORKS · 작동 구조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장으로 보는 작동 구조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D4D6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실무자의 질문 한 번이 시스템 안에서 어떻게 답변으로 이어지는지 5단계로 정리했습니다.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1031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D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질문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5486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"왜 불량이 증가했나?"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78608" y="32004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0" y="2194560"/>
            <a:ext cx="2103120" cy="2286000"/>
          </a:xfrm>
          <a:prstGeom prst="rect">
            <a:avLst/>
          </a:prstGeom>
          <a:solidFill>
            <a:srgbClr val="E8EEF4"/>
          </a:solidFill>
          <a:ln w="9525">
            <a:solidFill>
              <a:srgbClr val="1A1D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26080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해석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926080" y="3291840"/>
            <a:ext cx="5486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→ 구조화 질의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2608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레이어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64608" y="32004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0" y="2194560"/>
            <a:ext cx="21031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D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12080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연결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212080" y="3291840"/>
            <a:ext cx="5486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ERP·MES·품질 데이터 결합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1208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엔진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50608" y="32004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0" y="2194560"/>
            <a:ext cx="2103120" cy="2286000"/>
          </a:xfrm>
          <a:prstGeom prst="rect">
            <a:avLst/>
          </a:prstGeom>
          <a:solidFill>
            <a:srgbClr val="E8EEF4"/>
          </a:solidFill>
          <a:ln w="9525">
            <a:solidFill>
              <a:srgbClr val="1A1D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98080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분석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498080" y="3291840"/>
            <a:ext cx="5486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패턴·유사 사례 매칭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9808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436608" y="32004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601200" y="2194560"/>
            <a:ext cx="21031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D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8408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784080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답변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9784080" y="3291840"/>
            <a:ext cx="5486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+ 권장 조치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78408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실무자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937760"/>
            <a:ext cx="11247120" cy="1188720"/>
          </a:xfrm>
          <a:prstGeom prst="rect">
            <a:avLst/>
          </a:prstGeom>
          <a:solidFill>
            <a:srgbClr val="FAFAF9"/>
          </a:solidFill>
          <a:ln w="3810">
            <a:solidFill>
              <a:srgbClr val="D4D6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50749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구조의 핵심 · 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실무자는 기존대로 일상 언어로 질문하고, 시스템이 여러 데이터 소스를 대신 탐색합니다. 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업무 방식을 바꾸는 것이 아니라, 같은 질문에 답이 3일 대신 3분 만에 오도록 만드는 작업입니다.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AI 도입 제안서 · 윤상훈 · Sample for Dfinite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IMPACT · 도입 효과 1차 추정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도입 효과 1차 추정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D4D6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최근 12개월 운영 데이터 + 업계 벤치마크 기반 추정. 실제 도입 후 Discovery Workshop으로 정밀화.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611880" cy="2286000"/>
          </a:xfrm>
          <a:prstGeom prst="rect">
            <a:avLst/>
          </a:prstGeom>
          <a:solidFill>
            <a:srgbClr val="FAFAF9"/>
          </a:solidFill>
          <a:ln w="6350">
            <a:solidFill>
              <a:srgbClr val="D4D6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3611880" cy="4572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3~5일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30분 내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3063240" cy="0"/>
          </a:xfrm>
          <a:prstGeom prst="line">
            <a:avLst/>
          </a:prstGeom>
          <a:noFill/>
          <a:ln w="6350">
            <a:solidFill>
              <a:srgbClr val="D4D6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690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원인 분석 시간 · </a:t>
            </a:r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 단축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51960" y="2057400"/>
            <a:ext cx="3611880" cy="2286000"/>
          </a:xfrm>
          <a:prstGeom prst="rect">
            <a:avLst/>
          </a:prstGeom>
          <a:solidFill>
            <a:srgbClr val="FAFAF9"/>
          </a:solidFill>
          <a:ln w="6350">
            <a:solidFill>
              <a:srgbClr val="D4D6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2057400"/>
            <a:ext cx="3611880" cy="4572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2628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2628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2628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93~95%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526280" y="4023360"/>
            <a:ext cx="3063240" cy="0"/>
          </a:xfrm>
          <a:prstGeom prst="line">
            <a:avLst/>
          </a:prstGeom>
          <a:noFill/>
          <a:ln w="6350">
            <a:solidFill>
              <a:srgbClr val="D4D6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40690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납기 준수율 · </a:t>
            </a:r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+6~8%p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2057400"/>
            <a:ext cx="3611880" cy="2286000"/>
          </a:xfrm>
          <a:prstGeom prst="rect">
            <a:avLst/>
          </a:prstGeom>
          <a:solidFill>
            <a:srgbClr val="FAFAF9"/>
          </a:solidFill>
          <a:ln w="6350">
            <a:solidFill>
              <a:srgbClr val="D4D6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2057400"/>
            <a:ext cx="3611880" cy="4572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92일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210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2104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2104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68~75일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8321040" y="4023360"/>
            <a:ext cx="3063240" cy="0"/>
          </a:xfrm>
          <a:prstGeom prst="line">
            <a:avLst/>
          </a:prstGeom>
          <a:noFill/>
          <a:ln w="6350">
            <a:solidFill>
              <a:srgbClr val="D4D6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40690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회전일수 · </a:t>
            </a:r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-20~25%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solidFill>
            <a:srgbClr val="E8EEF4"/>
          </a:solidFill>
          <a:ln w="6350">
            <a:solidFill>
              <a:srgbClr val="D4D6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892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운영 손실 감축 추정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5257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약 35~60억 원 </a:t>
            </a:r>
            <a:pPr indent="0" marL="0">
              <a:buNone/>
            </a:pPr>
            <a:r>
              <a:rPr lang="en-US" sz="1400" dirty="0">
                <a:solidFill>
                  <a:srgbClr val="54595F"/>
                </a:solidFill>
              </a:rPr>
              <a:t>(연매출 1,200억 기준 2.9~5.0% 수준)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731520" y="58521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= (품질 손실 감축 + 재고 비용 감축 + 원인 분석 인건비 감축) − (플랫폼 도입·운영 비용). 1년 내 투자 회수 가능 구간.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AI 도입 제안서 · 윤상훈 · Sample for Dfinite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ROADMAP · 단계별 도입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3단계 · 6개월 도입 로드맵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D4D6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구현보다 A사 담당자가 실제로 '쓰게 되는' 정착을 우선합니다.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61188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Integration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611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2608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핵심 3개 시스템(ERP·MES·품질) 스키마 분석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 Use Case 3~5개 선정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보안·권한 구조 설계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2103120"/>
            <a:ext cx="361188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5508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M3–M4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51960" y="2743200"/>
            <a:ext cx="3611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92608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공장 1개 라인 파일럿 적용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품질·생산 담당자 10명 대상 실사용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단위 피드백 수집·반영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2103120"/>
            <a:ext cx="361188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14984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M5–M6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&amp; Adoption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2743200"/>
            <a:ext cx="3611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292608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공장 전체 확장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실무자 교육 프로그램 운영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 단위 ROI·사용률 측정 체계 수립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각 Phase 종료 시 Go/No-Go 게이트를 두어, 성과가 기준치에 못 미치면 확장을 중단하고 구조를 재검토합니다.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AI 도입 제안서 · 윤상훈 · Sample for Dfinite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RISKS · 도입 리스크와 완화 방안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리스크를 먼저 드립니다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D4D6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과정에서 실제로 발생할 수 있는 리스크 3가지와, 프로젝트 설계에 반영된 완화 방안입니다.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1247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6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40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품질 편차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공장의 데이터 포맷·입력 규칙이 달라, 통합 초기 정합성 이슈 발생 가능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0" y="2240280"/>
            <a:ext cx="0" cy="868680"/>
          </a:xfrm>
          <a:prstGeom prst="line">
            <a:avLst/>
          </a:prstGeom>
          <a:noFill/>
          <a:ln w="6350">
            <a:solidFill>
              <a:srgbClr val="D4D6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97680" y="24688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Discovery에서 데이터 품질 리포트 선제 작성. 실무 활용 가능 범위부터 단계적 확장.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07040" y="2423160"/>
            <a:ext cx="1005840" cy="457200"/>
          </a:xfrm>
          <a:prstGeom prst="rect">
            <a:avLst/>
          </a:prstGeom>
          <a:solidFill>
            <a:srgbClr val="FAFAF9"/>
          </a:solidFill>
          <a:ln w="6350">
            <a:solidFill>
              <a:srgbClr val="D4D6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0" y="24231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위험도 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11247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566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실무자 저항 · 사용률 저하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도구 학습 부담 · 기존 업무 방식 유지 선호로 도입 후 활용도 떨어질 위험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0" y="3566160"/>
            <a:ext cx="0" cy="868680"/>
          </a:xfrm>
          <a:prstGeom prst="line">
            <a:avLst/>
          </a:prstGeom>
          <a:noFill/>
          <a:ln w="6350">
            <a:solidFill>
              <a:srgbClr val="D4D6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97680" y="37947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2에서 핵심 사용자 10명과 주간 피드백 세션 운영. 자연어 인터페이스로 학습 비용 최소화.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607040" y="3749040"/>
            <a:ext cx="1005840" cy="457200"/>
          </a:xfrm>
          <a:prstGeom prst="rect">
            <a:avLst/>
          </a:prstGeom>
          <a:solidFill>
            <a:srgbClr val="FAFAF9"/>
          </a:solidFill>
          <a:ln w="6350">
            <a:solidFill>
              <a:srgbClr val="D4D6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0" y="3749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위험도 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709160"/>
            <a:ext cx="11247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6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892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판단에 대한 과신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5486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제시한 원인·조치를 사람이 검증 없이 실행하면, 잘못된 판단이 누적될 가능성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0" y="4892040"/>
            <a:ext cx="0" cy="868680"/>
          </a:xfrm>
          <a:prstGeom prst="line">
            <a:avLst/>
          </a:prstGeom>
          <a:noFill/>
          <a:ln w="6350">
            <a:solidFill>
              <a:srgbClr val="D4D6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97680" y="51206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의사결정에는 실무자 최종 승인 단계(HITL)를 필수로 배치. 판단 근거 자동 표시.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607040" y="5074920"/>
            <a:ext cx="1005840" cy="457200"/>
          </a:xfrm>
          <a:prstGeom prst="rect">
            <a:avLst/>
          </a:prstGeom>
          <a:solidFill>
            <a:srgbClr val="B85042"/>
          </a:solidFill>
          <a:ln w="6350">
            <a:solidFill>
              <a:srgbClr val="B850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07040" y="5074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위험도 상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AI 도입 제안서 · 윤상훈 · Sample for Dfinite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WHY NOW · 도입 타이밍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지금 도입해야 하는가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D4D6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645920" y="2103120"/>
            <a:ext cx="0" cy="914400"/>
          </a:xfrm>
          <a:prstGeom prst="line">
            <a:avLst/>
          </a:prstGeom>
          <a:noFill/>
          <a:ln w="9525">
            <a:solidFill>
              <a:srgbClr val="D4D6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2057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문제가 누적되고 있습니다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920240" y="2514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품질 클레임·재고 회전일수는 최근 2년간 악화 중. 지금 구조를 바꾸지 않으면 각 숫자는 계속 나빠집니다.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1645920" y="3474720"/>
            <a:ext cx="0" cy="914400"/>
          </a:xfrm>
          <a:prstGeom prst="line">
            <a:avLst/>
          </a:prstGeom>
          <a:noFill/>
          <a:ln w="9525">
            <a:solidFill>
              <a:srgbClr val="D4D6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정부지원사업 활용 가능 시기입니다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920240" y="3886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AI바우처·스마트공장·데이터바우처 지원사업에 해당 유형 도입이 명시되어 있어, 도입 비용의 상당 부분을 정부 지원금으로 충당 가능.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1645920" y="4846320"/>
            <a:ext cx="0" cy="914400"/>
          </a:xfrm>
          <a:prstGeom prst="line">
            <a:avLst/>
          </a:prstGeom>
          <a:noFill/>
          <a:ln w="9525">
            <a:solidFill>
              <a:srgbClr val="D4D6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4800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업계 경쟁사가 이미 움직이고 있습니다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920240" y="5257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동종 소재 제조업 중 3곳 이상이 최근 1년 내 유사 플랫폼 도입 완료. 2~3년 후 데이터 자산 격차로 이어질 수 있습니다.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1A1D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상반기가 타이밍입니다. 하반기부터는 지원사업 접수 마감 및 경쟁사 격차 확대로 조건이 불리해집니다.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AI 도입 제안서 · 윤상훈 · Sample for Dfinite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NEXT STEPS · 다음 단계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단계 · Discovery Workshop 제안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D4D6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제안서는 외부 자료 기반 1차 분석입니다. 실제 도입 전, A사 현장 데이터를 직접 확인하는 세션을 제안드립니다.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4864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D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23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Workshop · 반나절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182880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현장 Walk-through · 60분</a:t>
            </a:r>
            <a:endParaRPr lang="en-US" sz="11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3개 공장 중 대표 1곳 현장 동행 · 실제 업무 흐름 관찰</a:t>
            </a:r>
            <a:endParaRPr lang="en-US" sz="11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핵심 3팀 인터뷰 · 90분</a:t>
            </a:r>
            <a:endParaRPr lang="en-US" sz="11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품질·생산계획·공정기술팀 각 담당자와 Use Case 도출</a:t>
            </a:r>
            <a:endParaRPr lang="en-US" sz="11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데이터 진단 리포트 · 1주 내 전달</a:t>
            </a:r>
            <a:endParaRPr lang="en-US" sz="11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현재 데이터 품질·통합 가능성·도입 비용 정밀 추정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5486400" cy="3840480"/>
          </a:xfrm>
          <a:prstGeom prst="rect">
            <a:avLst/>
          </a:prstGeom>
          <a:solidFill>
            <a:srgbClr val="E8EEF4"/>
          </a:solidFill>
          <a:ln w="6350">
            <a:solidFill>
              <a:srgbClr val="D4D6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423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Workshop 이후 전달 자료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2834640"/>
            <a:ext cx="182880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97180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전용 정밀 ROI 리포트</a:t>
            </a:r>
            <a:endParaRPr lang="en-US" sz="11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본 제안서의 추정치를 실제 데이터로 재산정</a:t>
            </a:r>
            <a:endParaRPr lang="en-US" sz="11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상세 제안서 · 계약안</a:t>
            </a:r>
            <a:endParaRPr lang="en-US" sz="11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도입 범위·일정·비용·KPI 정식 문서화</a:t>
            </a:r>
            <a:endParaRPr lang="en-US" sz="11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정부지원사업 연계 옵션 안내</a:t>
            </a:r>
            <a:endParaRPr lang="en-US" sz="11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AI바우처·스마트공장 활용 시 비용 분담 시나리오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Workshop은 A사 측 비용 부담 없이 진행됩니다.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A사 AI 도입 제안서 · 윤상훈 · Sample for Dfinite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APPENDIX · 정부지원사업 확장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D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· 같은 프레임을 정부지원사업에 적용하면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9525">
            <a:solidFill>
              <a:srgbClr val="D4D6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제안서의 구조(문제 → 원인 → 해결 → ROI → 로드맵 → 리스크)는 정부지원사업 사업계획서 양식에 1:1 매핑됩니다.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47120" cy="457200"/>
          </a:xfrm>
          <a:prstGeom prst="rect">
            <a:avLst/>
          </a:prstGeom>
          <a:solidFill>
            <a:srgbClr val="1A1D2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지원사업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규모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21031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제안서와의 매핑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11247120" cy="868680"/>
          </a:xfrm>
          <a:prstGeom prst="rect">
            <a:avLst/>
          </a:prstGeom>
          <a:solidFill>
            <a:srgbClr val="FAFAF9"/>
          </a:solidFill>
          <a:ln w="3810">
            <a:solidFill>
              <a:srgbClr val="D4D6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60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AI바우처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560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2억원 · 기업당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256032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제안의 Phase 1~2에 해당. 수요기업(A사)-공급기업 컨소시엄 형태로 신청 가능.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1124712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D4D6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29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스마트공장 (제조AI특화)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3429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2억원 · AI 트랙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34290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제안의 Phase 2~3 + 공장 확산 범위 확장. 제조 현장 AI 도입 공고에 직접 부합.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11247120" cy="868680"/>
          </a:xfrm>
          <a:prstGeom prst="rect">
            <a:avLst/>
          </a:prstGeom>
          <a:solidFill>
            <a:srgbClr val="FAFAF9"/>
          </a:solidFill>
          <a:ln w="3810">
            <a:solidFill>
              <a:srgbClr val="D4D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976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데이터바우처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42976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4,500만원 · 수요기업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42976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1의 데이터 통합·품질 정비 단계를 별도 과제로 분리 신청 가능.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577840"/>
            <a:ext cx="11247120" cy="0"/>
          </a:xfrm>
          <a:prstGeom prst="line">
            <a:avLst/>
          </a:prstGeom>
          <a:noFill/>
          <a:ln w="12700">
            <a:solidFill>
              <a:srgbClr val="1A1D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7150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i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관점 · </a:t>
            </a:r>
            <a:pPr indent="0" marL="0">
              <a:lnSpc>
                <a:spcPts val="1800"/>
              </a:lnSpc>
              <a:buNone/>
            </a:pPr>
            <a:r>
              <a:rPr lang="en-US" sz="1100" i="1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'좋은 고객 제안서'와 '좋은 정부지원사업 사업계획서'는 같은 근거를 필요로 합니다. 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i="1" dirty="0">
                <a:solidFill>
                  <a:srgbClr val="54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제안서의 데이터 추정·로드맵·리스크 분석이 이미 그 두 문서의 공통 뼈대를 갖추고 있습니다.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A사 AI 도입 제안서 · Sample for Dfinite</dc:title>
  <dc:subject>PptxGenJS Presentation</dc:subject>
  <dc:creator>Sanghoon Yoon</dc:creator>
  <cp:lastModifiedBy>Sanghoon Yoon</cp:lastModifiedBy>
  <cp:revision>1</cp:revision>
  <dcterms:created xsi:type="dcterms:W3CDTF">2026-04-24T08:28:11Z</dcterms:created>
  <dcterms:modified xsi:type="dcterms:W3CDTF">2026-04-24T08:28:11Z</dcterms:modified>
</cp:coreProperties>
</file>