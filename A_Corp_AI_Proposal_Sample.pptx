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023360" cy="6858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6400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600" kern="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CLIENT PROPOSAL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Sample · 2026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4937760"/>
            <a:ext cx="2743200" cy="0"/>
          </a:xfrm>
          <a:prstGeom prst="line">
            <a:avLst/>
          </a:prstGeom>
          <a:noFill/>
          <a:ln w="9525">
            <a:solidFill>
              <a:srgbClr val="FFFFF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50749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PROPOSED BY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5349240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윤상훈</a:t>
            </a:r>
            <a:endParaRPr lang="en-US" sz="18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Sanghoon Yoon</a:t>
            </a:r>
            <a:endParaRPr lang="en-US" sz="18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8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</a:t>
            </a:r>
            <a:endParaRPr lang="en-US" sz="18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hoon7624g@gmail.com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480560" y="1737360"/>
            <a:ext cx="73152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000"/>
              </a:lnSpc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품질·재고 운영 손실을</a:t>
            </a:r>
            <a:endParaRPr lang="en-US" sz="3400" dirty="0"/>
          </a:p>
          <a:p>
            <a:pPr indent="0" marL="0">
              <a:lnSpc>
                <a:spcPts val="5000"/>
              </a:lnSpc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기반 데이터 통합으로</a:t>
            </a:r>
            <a:endParaRPr lang="en-US" sz="3400" dirty="0"/>
          </a:p>
          <a:p>
            <a:pPr indent="0" marL="0">
              <a:lnSpc>
                <a:spcPts val="5000"/>
              </a:lnSpc>
              <a:spcAft>
                <a:spcPts val="400"/>
              </a:spcAft>
              <a:buNone/>
            </a:pPr>
            <a:r>
              <a:rPr lang="en-US" sz="3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해결하기</a:t>
            </a:r>
            <a:endParaRPr lang="en-US" sz="3400" dirty="0"/>
          </a:p>
        </p:txBody>
      </p:sp>
      <p:sp>
        <p:nvSpPr>
          <p:cNvPr id="9" name="Shape 7"/>
          <p:cNvSpPr/>
          <p:nvPr/>
        </p:nvSpPr>
        <p:spPr>
          <a:xfrm>
            <a:off x="4480560" y="4846320"/>
            <a:ext cx="548640" cy="0"/>
          </a:xfrm>
          <a:prstGeom prst="line">
            <a:avLst/>
          </a:prstGeom>
          <a:noFill/>
          <a:ln w="25400">
            <a:solidFill>
              <a:srgbClr val="1C1F2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0" y="4983480"/>
            <a:ext cx="7315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800"/>
              </a:lnSpc>
              <a:buNone/>
            </a:pPr>
            <a:r>
              <a:rPr lang="en-US" sz="16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 제조 중견기업 A사 대상</a:t>
            </a:r>
            <a:endParaRPr lang="en-US" sz="1600" dirty="0"/>
          </a:p>
          <a:p>
            <a:pPr indent="0" marL="0">
              <a:lnSpc>
                <a:spcPts val="2800"/>
              </a:lnSpc>
              <a:buNone/>
            </a:pPr>
            <a:r>
              <a:rPr lang="en-US" sz="1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도입 제안서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4805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spc="3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v2.0 · Proposal Sample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· EXECUTIVE SUMMARY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장 요약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55448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1031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손실 누적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2651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A사는 납기 지연 · 재고 과잉 · 품질 불량이 반복되고 있으며, 각 문제의 원인 분석에 평균 3~5일이 소요됨.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309360" y="155448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309360" y="155448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0" y="21031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단절 구조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83680" y="2651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 · MES · QMS 데이터가 분리되어 있어, 실무자가 매번 수작업으로 통합 후 '감'으로 판단해 대응.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388620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제안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데이터 통합 레이어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4983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시스템 위에 AI 통합 레이어를 배치. 자연어로 원인을 물어보면 원인 후보와 권장 조치를 함께 받는 구조.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309360" y="388620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3" name="Shape 21"/>
          <p:cNvSpPr/>
          <p:nvPr/>
        </p:nvSpPr>
        <p:spPr>
          <a:xfrm>
            <a:off x="6309360" y="388620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효과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0" y="44348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1차 추정 절감액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583680" y="4983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후보 탐색 3~5일 → 30분 내. 연간 품질 · 재고 관련 운영 손실 8~18억 원 1차 절감 가능 (가정 기반 추정).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6080760"/>
            <a:ext cx="11247120" cy="36576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SAMPLE NOTICE · </a:t>
            </a:r>
            <a:pPr indent="0" marL="0">
              <a:buNone/>
            </a:pPr>
            <a:r>
              <a:rPr lang="en-US" sz="9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문서는 사업개발 매니저 지원자 윤상훈이 제안서 작성 역량을 보여주기 위해 작성한 가상 시나리오입니다. A사 · 인터뷰 · 운영 수치는 모두 가정값이며, 실제 디피니트 또는 그 고객사와 무관합니다.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· EXECUTIVE SUMMARY · EN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Executive Summary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" y="155448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8" name="Shape 6"/>
          <p:cNvSpPr/>
          <p:nvPr/>
        </p:nvSpPr>
        <p:spPr>
          <a:xfrm>
            <a:off x="457200" y="155448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PROBLEM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21031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Recurring Operational Loss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731520" y="2651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Company A faces recurring delivery delays, excess inventory, and quality defects. Root-cause analysis takes 3–5 days on average.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309360" y="155448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3" name="Shape 11"/>
          <p:cNvSpPr/>
          <p:nvPr/>
        </p:nvSpPr>
        <p:spPr>
          <a:xfrm>
            <a:off x="6309360" y="155448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4" name="Text 12"/>
          <p:cNvSpPr/>
          <p:nvPr/>
        </p:nvSpPr>
        <p:spPr>
          <a:xfrm>
            <a:off x="6583680" y="17830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CAUSE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583680" y="210312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Disconnected Data Layers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6583680" y="265176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ERP, MES, and QMS systems operate in silos. Operators must manually integrate data each time and rely on intuition for decisions.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57200" y="388620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457200" y="388620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PROPOSAL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31520" y="44348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Data Integration Layer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4983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Deploy an AI layer on top of existing systems. Operators query root causes in natural language and receive both causes and recommended actions.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309360" y="3886200"/>
            <a:ext cx="5760720" cy="21945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3" name="Shape 21"/>
          <p:cNvSpPr/>
          <p:nvPr/>
        </p:nvSpPr>
        <p:spPr>
          <a:xfrm>
            <a:off x="6309360" y="3886200"/>
            <a:ext cx="54864" cy="2194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4" name="Text 22"/>
          <p:cNvSpPr/>
          <p:nvPr/>
        </p:nvSpPr>
        <p:spPr>
          <a:xfrm>
            <a:off x="6583680" y="4114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IMPACT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583680" y="44348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First-Cut Savings Estimate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583680" y="49834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Cause exploration: 3–5 days → under 30 min. Estimated annual savings on quality/inventory losses: KRW 0.8–1.8B (assumption-based, first-cut).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This document is a sample scenario created by the applicant. All figures are assumptions for demonstration purposes only.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· CLIENT CONTEXT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현황과 과제 (가정)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508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샘플에서는 다음 조건의 소재 제조사를 가정했습니다. 실제 제안 시에는 고객사 데이터로 모든 수치를 재산정합니다.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3611880" cy="292608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240280"/>
            <a:ext cx="3611880" cy="548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51460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pPr indent="0" marL="0">
              <a:buNone/>
            </a:pPr>
            <a:r>
              <a:rPr lang="en-US" sz="16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개 공장</a:t>
            </a:r>
            <a:endParaRPr lang="en-US" sz="5600" dirty="0"/>
          </a:p>
        </p:txBody>
      </p:sp>
      <p:sp>
        <p:nvSpPr>
          <p:cNvPr id="11" name="Text 9"/>
          <p:cNvSpPr/>
          <p:nvPr/>
        </p:nvSpPr>
        <p:spPr>
          <a:xfrm>
            <a:off x="73152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충북 · 경북 · 인천 분산 운영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4297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각기 다른 MES · QMS 운용 중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51960" y="2240280"/>
            <a:ext cx="3611880" cy="292608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4" name="Shape 12"/>
          <p:cNvSpPr/>
          <p:nvPr/>
        </p:nvSpPr>
        <p:spPr>
          <a:xfrm>
            <a:off x="4251960" y="2240280"/>
            <a:ext cx="3611880" cy="548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5" name="Text 13"/>
          <p:cNvSpPr/>
          <p:nvPr/>
        </p:nvSpPr>
        <p:spPr>
          <a:xfrm>
            <a:off x="4526280" y="251460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1,200</a:t>
            </a:r>
            <a:pPr indent="0" marL="0">
              <a:buNone/>
            </a:pPr>
            <a:r>
              <a:rPr lang="en-US" sz="16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억 원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452628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연매출 (2025년 가정)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26280" y="4297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 제조 중견 규모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8046720" y="2240280"/>
            <a:ext cx="3611880" cy="292608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9" name="Shape 17"/>
          <p:cNvSpPr/>
          <p:nvPr/>
        </p:nvSpPr>
        <p:spPr>
          <a:xfrm>
            <a:off x="8046720" y="2240280"/>
            <a:ext cx="3611880" cy="548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0" name="Text 18"/>
          <p:cNvSpPr/>
          <p:nvPr/>
        </p:nvSpPr>
        <p:spPr>
          <a:xfrm>
            <a:off x="8321040" y="251460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</a:t>
            </a:r>
            <a:pPr indent="0" marL="0">
              <a:buNone/>
            </a:pPr>
            <a:r>
              <a:rPr lang="en-US" sz="16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일</a:t>
            </a:r>
            <a:endParaRPr lang="en-US" sz="5600" dirty="0"/>
          </a:p>
        </p:txBody>
      </p:sp>
      <p:sp>
        <p:nvSpPr>
          <p:cNvPr id="21" name="Text 19"/>
          <p:cNvSpPr/>
          <p:nvPr/>
        </p:nvSpPr>
        <p:spPr>
          <a:xfrm>
            <a:off x="8321040" y="3886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 이슈 원인 분석 소요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321040" y="429768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부서 간 데이터 취합 시간 포함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5440680"/>
            <a:ext cx="11247120" cy="6400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553212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가정 시스템 스택 · 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ERP: 상용 패키지 (예: SAP 또는 Oracle 계열) · MES: 자체 개발 + 공장별 별도 운영 · QMS: 상용 솔루션. 데이터 통합은 수작업 엑셀 의존.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·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0972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3가지 운영 손실이 반복되고 있습니다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소재 제조 중견기업을 가정한 샘플 운영 데이터 기준. 실제 제안 시에는 고객사 ERP · MES · QMS 데이터와 현장 인터뷰로 수치를 재산정합니다.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11247120" cy="11887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28600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737360" y="228600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납기 지연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1737360" y="274320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 주문 대비 납기 준수율 87%. 목표 95% 대비 -8%p. 긴급 생산 조정으로 월 평균 3~4회 라인 재편성 발생.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052560" y="22860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87%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9052560" y="292608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납기 준수율 (목표 95%)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3429000"/>
            <a:ext cx="11247120" cy="11887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61188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1737360" y="361188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 과잉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1737360" y="406908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완제품 · 반제품 재고 회전일수 92일. 본 샘플에서 가정한 관리 목표 범위(60~75일) 상단 이탈. 재고 보유 비용 연간 약 28억 원 추정.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9052560" y="3611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92일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052560" y="42519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재고 회전일수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4754880"/>
            <a:ext cx="11247120" cy="11887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937760"/>
            <a:ext cx="914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1737360" y="493776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품질 클레임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1737360" y="5394960"/>
            <a:ext cx="7040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4분기 고객 클레임 누적 17건. 원인 규명에 평균 3~5일 소요. 동일 원인 재발 클레임 비중 약 40%.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052560" y="49377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40%</a:t>
            </a:r>
            <a:endParaRPr lang="en-US" sz="2800" dirty="0"/>
          </a:p>
        </p:txBody>
      </p:sp>
      <p:sp>
        <p:nvSpPr>
          <p:cNvPr id="25" name="Text 23"/>
          <p:cNvSpPr/>
          <p:nvPr/>
        </p:nvSpPr>
        <p:spPr>
          <a:xfrm>
            <a:off x="9052560" y="557784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원인 재발 비중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· ROOT CAUSE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06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원인은 개인 역량이 아니라 데이터 구조의 단절입니다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인용은 현장 인터뷰 상황을 가정해 구성한 페르소나 발언입니다.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36576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196596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"원인을 찾으려면 ERP · MES · QMS를 각각 열어서 엑셀로 따로 받아야 해요."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278892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품질관리팀 (페르소나)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36576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2" name="Text 10"/>
          <p:cNvSpPr/>
          <p:nvPr/>
        </p:nvSpPr>
        <p:spPr>
          <a:xfrm>
            <a:off x="731520" y="329184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"늘 보던 패턴이라 '아마 이것 때문일 거다'로 시작하는데, 확인까지 3일은 걸립니다."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11480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생산계획팀 (페르소나)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" y="4617720"/>
            <a:ext cx="36576" cy="10515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" y="4617720"/>
            <a:ext cx="5212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i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"같은 문제가 또 생기면 그때마다 처음부터 다시 찾아야 돼요. 축적이 안 됩니다."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54406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— 공정기술팀 (페르소나)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400800" y="1965960"/>
            <a:ext cx="5303520" cy="41148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18" name="Text 16"/>
          <p:cNvSpPr/>
          <p:nvPr/>
        </p:nvSpPr>
        <p:spPr>
          <a:xfrm>
            <a:off x="6675120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구조적 진단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675120" y="2514600"/>
            <a:ext cx="4846320" cy="3383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샘플의 핵심 가정은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개인 역량이 아니라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 · MES · QMS 데이터가 분리되어,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분석을 매번 수작업으로 재구성해야 하는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구조적 한계입니다.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동일 이슈가 반복되는 핵심 원인은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담당자 역량보다, 원인 분석에 필요한 데이터가</a:t>
            </a:r>
            <a:endParaRPr lang="en-US" sz="13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3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시스템 간에 연결되지 않는 구조에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· SOLUTION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07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데이터 통합 레이어를 기존 시스템 위에 배치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ERP · MES · QMS를 교체하지 않고, 그 위에 통합 레이어를 배치해 데이터를 연결하는 방식입니다.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03120"/>
            <a:ext cx="3611880" cy="40233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03120"/>
            <a:ext cx="3611880" cy="548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연결</a:t>
            </a:r>
            <a:endParaRPr lang="en-US" sz="1800" dirty="0"/>
          </a:p>
        </p:txBody>
      </p:sp>
      <p:sp>
        <p:nvSpPr>
          <p:cNvPr id="12" name="Shape 10"/>
          <p:cNvSpPr/>
          <p:nvPr/>
        </p:nvSpPr>
        <p:spPr>
          <a:xfrm>
            <a:off x="731520" y="3246120"/>
            <a:ext cx="91440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38328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 · MES · QMS의 주요 테이블과 LOT · 품번 · 공정 · 설비 · 일자 키를 매핑해 분석 레이어 구성. 초기 배치 연동 → 필요 구간 준실시간 확장.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731520" y="53492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기존 시스템 유지 · 추가 마이그레이션 불필요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51960" y="2103120"/>
            <a:ext cx="3611880" cy="40233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6" name="Shape 14"/>
          <p:cNvSpPr/>
          <p:nvPr/>
        </p:nvSpPr>
        <p:spPr>
          <a:xfrm>
            <a:off x="4251960" y="2103120"/>
            <a:ext cx="3611880" cy="548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7" name="Text 15"/>
          <p:cNvSpPr/>
          <p:nvPr/>
        </p:nvSpPr>
        <p:spPr>
          <a:xfrm>
            <a:off x="452628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26280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질의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4526280" y="3246120"/>
            <a:ext cx="91440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26280" y="338328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"지난달 불량률이 가장 높았던 라인은?"처럼 자연어로 질문하면, AI가 여러 시스템을 가로질러 답변. SQL · BI 도구 학습 부담 없음.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526280" y="53492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실무자가 직접 분석 · 학습 비용 최소화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046720" y="2103120"/>
            <a:ext cx="3611880" cy="40233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3" name="Shape 21"/>
          <p:cNvSpPr/>
          <p:nvPr/>
        </p:nvSpPr>
        <p:spPr>
          <a:xfrm>
            <a:off x="8046720" y="2103120"/>
            <a:ext cx="3611880" cy="54864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24" name="Text 22"/>
          <p:cNvSpPr/>
          <p:nvPr/>
        </p:nvSpPr>
        <p:spPr>
          <a:xfrm>
            <a:off x="8321040" y="2286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3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321040" y="26974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· 조치 동시 제시</a:t>
            </a:r>
            <a:endParaRPr lang="en-US" sz="1800" dirty="0"/>
          </a:p>
        </p:txBody>
      </p:sp>
      <p:sp>
        <p:nvSpPr>
          <p:cNvPr id="26" name="Shape 24"/>
          <p:cNvSpPr/>
          <p:nvPr/>
        </p:nvSpPr>
        <p:spPr>
          <a:xfrm>
            <a:off x="8321040" y="3246120"/>
            <a:ext cx="91440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321040" y="3383280"/>
            <a:ext cx="31546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단순 통계가 아닌, 과거 유사 사례 · 조치 이력을 학습해 원인 후보와 권장 조치를 함께 제시. 답변에는 사용 데이터 · 기간 · 근거를 함께 표시.</a:t>
            </a:r>
            <a:endParaRPr lang="en-US" sz="1150" dirty="0"/>
          </a:p>
        </p:txBody>
      </p:sp>
      <p:sp>
        <p:nvSpPr>
          <p:cNvPr id="28" name="Text 26"/>
          <p:cNvSpPr/>
          <p:nvPr/>
        </p:nvSpPr>
        <p:spPr>
          <a:xfrm>
            <a:off x="8321040" y="5349240"/>
            <a:ext cx="3154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조치는 담당자 승인 후 실행 (HITL)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핵심은 새로운 시스템을 추가하는 것이 아니라, 이미 수집된 데이터를 사람이 바로 질의할 수 있는 상태로 정리하는 작업입니다.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· HOW IT WORKS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08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실무자의 질문이 1차 원인 후보로 이어지는 5단계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질문에 대한 원인 후보를 3~5일이 아니라 30분 안에 받아볼 수 있게 만드는 구조입니다.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2103120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STAGE 1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40080" y="3291840"/>
            <a:ext cx="54864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429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"왜 불량이 증가했나?"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실무자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2578608" y="3108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2743200" y="2194560"/>
            <a:ext cx="2103120" cy="2286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16" name="Text 14"/>
          <p:cNvSpPr/>
          <p:nvPr/>
        </p:nvSpPr>
        <p:spPr>
          <a:xfrm>
            <a:off x="29260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STAGE 2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292608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해석</a:t>
            </a:r>
            <a:endParaRPr lang="en-US" sz="2200" dirty="0"/>
          </a:p>
        </p:txBody>
      </p:sp>
      <p:sp>
        <p:nvSpPr>
          <p:cNvPr id="18" name="Shape 16"/>
          <p:cNvSpPr/>
          <p:nvPr/>
        </p:nvSpPr>
        <p:spPr>
          <a:xfrm>
            <a:off x="2926080" y="3291840"/>
            <a:ext cx="54864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926080" y="3429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자연어 → 구조화 질의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9260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레이어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64608" y="3108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5029200" y="2194560"/>
            <a:ext cx="2103120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3" name="Text 21"/>
          <p:cNvSpPr/>
          <p:nvPr/>
        </p:nvSpPr>
        <p:spPr>
          <a:xfrm>
            <a:off x="52120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STAGE 3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21208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연결</a:t>
            </a:r>
            <a:endParaRPr lang="en-US" sz="2200" dirty="0"/>
          </a:p>
        </p:txBody>
      </p:sp>
      <p:sp>
        <p:nvSpPr>
          <p:cNvPr id="25" name="Shape 23"/>
          <p:cNvSpPr/>
          <p:nvPr/>
        </p:nvSpPr>
        <p:spPr>
          <a:xfrm>
            <a:off x="5212080" y="3291840"/>
            <a:ext cx="54864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12080" y="3429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ERP · MES · QMS 결합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52120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통합 엔진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150608" y="3108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200" dirty="0"/>
          </a:p>
        </p:txBody>
      </p:sp>
      <p:sp>
        <p:nvSpPr>
          <p:cNvPr id="29" name="Shape 27"/>
          <p:cNvSpPr/>
          <p:nvPr/>
        </p:nvSpPr>
        <p:spPr>
          <a:xfrm>
            <a:off x="7315200" y="2194560"/>
            <a:ext cx="2103120" cy="228600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0" name="Text 28"/>
          <p:cNvSpPr/>
          <p:nvPr/>
        </p:nvSpPr>
        <p:spPr>
          <a:xfrm>
            <a:off x="74980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STAGE 4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749808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</a:t>
            </a:r>
            <a:endParaRPr lang="en-US" sz="2200" dirty="0"/>
          </a:p>
        </p:txBody>
      </p:sp>
      <p:sp>
        <p:nvSpPr>
          <p:cNvPr id="32" name="Shape 30"/>
          <p:cNvSpPr/>
          <p:nvPr/>
        </p:nvSpPr>
        <p:spPr>
          <a:xfrm>
            <a:off x="7498080" y="3291840"/>
            <a:ext cx="54864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498080" y="3429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후보 · 유사 사례 매칭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74980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모델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9436608" y="3108960"/>
            <a:ext cx="1645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›</a:t>
            </a:r>
            <a:endParaRPr lang="en-US" sz="2200" dirty="0"/>
          </a:p>
        </p:txBody>
      </p:sp>
      <p:sp>
        <p:nvSpPr>
          <p:cNvPr id="36" name="Shape 34"/>
          <p:cNvSpPr/>
          <p:nvPr/>
        </p:nvSpPr>
        <p:spPr>
          <a:xfrm>
            <a:off x="9601200" y="2194560"/>
            <a:ext cx="2103120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7" name="Text 35"/>
          <p:cNvSpPr/>
          <p:nvPr/>
        </p:nvSpPr>
        <p:spPr>
          <a:xfrm>
            <a:off x="9784080" y="23774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STAGE 5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9784080" y="269748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답변</a:t>
            </a:r>
            <a:endParaRPr lang="en-US" sz="2200" dirty="0"/>
          </a:p>
        </p:txBody>
      </p:sp>
      <p:sp>
        <p:nvSpPr>
          <p:cNvPr id="39" name="Shape 37"/>
          <p:cNvSpPr/>
          <p:nvPr/>
        </p:nvSpPr>
        <p:spPr>
          <a:xfrm>
            <a:off x="9784080" y="3291840"/>
            <a:ext cx="54864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9784080" y="3429000"/>
            <a:ext cx="1737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원인 + 권장 조치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9784080" y="41148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실무자 검증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57200" y="4937760"/>
            <a:ext cx="11247120" cy="12801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43" name="Text 41"/>
          <p:cNvSpPr/>
          <p:nvPr/>
        </p:nvSpPr>
        <p:spPr>
          <a:xfrm>
            <a:off x="731520" y="5074920"/>
            <a:ext cx="10698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이 구조의 핵심 ·  </a:t>
            </a:r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실무자는 기존대로 일상 언어로 질문하고, 시스템이 여러 데이터 소스를 대신 탐색합니다. 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답변에는 사용 데이터 출처 · 기준 기간 · 관련 LOT · 공정 · 설비 · 권장 조치의 근거를 함께 표시합니다. </a:t>
            </a:r>
            <a:endParaRPr lang="en-US" sz="115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15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조치는 담당자 승인 후 실행합니다.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· IMPACT (ROI)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09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효과 1차 추정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샘플 가정 기반의 1차 추정. 실제 도입 시 Discovery Workshop에서 고객사 데이터로 모든 수치를 재산정합니다.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611880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011680"/>
            <a:ext cx="3611880" cy="54864"/>
          </a:xfrm>
          <a:prstGeom prst="rect">
            <a:avLst/>
          </a:prstGeom>
          <a:solidFill>
            <a:srgbClr val="65A88E"/>
          </a:solidFill>
          <a:ln/>
        </p:spPr>
      </p:sp>
      <p:sp>
        <p:nvSpPr>
          <p:cNvPr id="10" name="Text 8"/>
          <p:cNvSpPr/>
          <p:nvPr/>
        </p:nvSpPr>
        <p:spPr>
          <a:xfrm>
            <a:off x="731520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3~5일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73152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3152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 (1차 추정)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30분 내</a:t>
            </a:r>
            <a:endParaRPr lang="en-US" sz="2400" dirty="0"/>
          </a:p>
        </p:txBody>
      </p:sp>
      <p:sp>
        <p:nvSpPr>
          <p:cNvPr id="15" name="Shape 13"/>
          <p:cNvSpPr/>
          <p:nvPr/>
        </p:nvSpPr>
        <p:spPr>
          <a:xfrm>
            <a:off x="731520" y="4023360"/>
            <a:ext cx="3063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0690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원인 후보 탐색 시간 · </a:t>
            </a:r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초안 30분, 실무자 검증 당일 처리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251960" y="2011680"/>
            <a:ext cx="3611880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8" name="Shape 16"/>
          <p:cNvSpPr/>
          <p:nvPr/>
        </p:nvSpPr>
        <p:spPr>
          <a:xfrm>
            <a:off x="4251960" y="2011680"/>
            <a:ext cx="3611880" cy="54864"/>
          </a:xfrm>
          <a:prstGeom prst="rect">
            <a:avLst/>
          </a:prstGeom>
          <a:solidFill>
            <a:srgbClr val="65A88E"/>
          </a:solidFill>
          <a:ln/>
        </p:spPr>
      </p:sp>
      <p:sp>
        <p:nvSpPr>
          <p:cNvPr id="19" name="Text 17"/>
          <p:cNvSpPr/>
          <p:nvPr/>
        </p:nvSpPr>
        <p:spPr>
          <a:xfrm>
            <a:off x="4526280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2628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87%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452628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52628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 (1차 추정)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26280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93~95%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4526280" y="4023360"/>
            <a:ext cx="3063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526280" y="40690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납기 준수율 · </a:t>
            </a:r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+6~8%p 개선 가능성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046720" y="2011680"/>
            <a:ext cx="3611880" cy="22860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7" name="Shape 25"/>
          <p:cNvSpPr/>
          <p:nvPr/>
        </p:nvSpPr>
        <p:spPr>
          <a:xfrm>
            <a:off x="8046720" y="2011680"/>
            <a:ext cx="3611880" cy="54864"/>
          </a:xfrm>
          <a:prstGeom prst="rect">
            <a:avLst/>
          </a:prstGeom>
          <a:solidFill>
            <a:srgbClr val="65A88E"/>
          </a:solidFill>
          <a:ln/>
        </p:spPr>
      </p:sp>
      <p:sp>
        <p:nvSpPr>
          <p:cNvPr id="28" name="Text 26"/>
          <p:cNvSpPr/>
          <p:nvPr/>
        </p:nvSpPr>
        <p:spPr>
          <a:xfrm>
            <a:off x="8321040" y="219456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BEFORE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321040" y="246888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92일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832104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8321040" y="32461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AFTER (1차 추정)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321040" y="3520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75~80일</a:t>
            </a:r>
            <a:endParaRPr lang="en-US" sz="2400" dirty="0"/>
          </a:p>
        </p:txBody>
      </p:sp>
      <p:sp>
        <p:nvSpPr>
          <p:cNvPr id="33" name="Shape 31"/>
          <p:cNvSpPr/>
          <p:nvPr/>
        </p:nvSpPr>
        <p:spPr>
          <a:xfrm>
            <a:off x="8321040" y="4023360"/>
            <a:ext cx="3063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21040" y="4069080"/>
            <a:ext cx="3063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재고 회전일수 · </a:t>
            </a:r>
            <a:pPr indent="0" marL="0">
              <a:buNone/>
            </a:pPr>
            <a:r>
              <a:rPr lang="en-US" sz="10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-15~20% 개선 가능성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4572000"/>
            <a:ext cx="11247120" cy="169164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6" name="Text 34"/>
          <p:cNvSpPr/>
          <p:nvPr/>
        </p:nvSpPr>
        <p:spPr>
          <a:xfrm>
            <a:off x="731520" y="47091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절감 가능액 (1차 추정)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731520" y="5074920"/>
            <a:ext cx="5486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8~18억 원</a:t>
            </a:r>
            <a:endParaRPr lang="en-US" sz="3000" dirty="0"/>
          </a:p>
        </p:txBody>
      </p:sp>
      <p:sp>
        <p:nvSpPr>
          <p:cNvPr id="38" name="Text 36"/>
          <p:cNvSpPr/>
          <p:nvPr/>
        </p:nvSpPr>
        <p:spPr>
          <a:xfrm>
            <a:off x="731520" y="57150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연간 영향 손실 규모는 약 35~60억 원으로 추정됨. 그중 1차 절감 가능액만 표기.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492240" y="4709160"/>
            <a:ext cx="0" cy="1417320"/>
          </a:xfrm>
          <a:prstGeom prst="line">
            <a:avLst/>
          </a:prstGeom>
          <a:noFill/>
          <a:ln w="6350">
            <a:solidFill>
              <a:srgbClr val="5C616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766560" y="470916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· 운영 비용 범위 (가정)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766560" y="5029200"/>
            <a:ext cx="4937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Phase 1 도입: 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2천만~5천만 원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Phase 2~3 확산: 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1.5억~2.5억 원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연간 운영: </a:t>
            </a:r>
            <a:endParaRPr lang="en-US" sz="110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8천만~1.2억 원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가정: 재고 보유비용 28억, 긴급 생산 조정 비용 12~18억, 품질 클레임 · 재작업 비용 20~35억, 원인 분석 인건비 1~3억. 개선율은 10~25% 보수 산정.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· ROADMAP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10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3단계 · 6개월 도입 로드맵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빠른 구현보다 A사 담당자가 실제로 '쓰게 되는' 정착을 우선합니다.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3611880" cy="64008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377440" y="2103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M1–M2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Discovery &amp; Integration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3611880" cy="31089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2788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작업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" y="31089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ERP · MES · QMS 스키마 분석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Use Case 3~5개 우선순위 선정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보안 · 권한 · 망분리 정책 점검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4800600"/>
            <a:ext cx="3063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" y="5166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진단 리포트 · Use Case 우선순위 · ROI 재산정표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251960" y="2011680"/>
            <a:ext cx="3611880" cy="64008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19" name="Text 17"/>
          <p:cNvSpPr/>
          <p:nvPr/>
        </p:nvSpPr>
        <p:spPr>
          <a:xfrm>
            <a:off x="452628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6172200" y="2103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M3–M4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452628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Pilot Deployment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251960" y="2651760"/>
            <a:ext cx="3611880" cy="31089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3" name="Text 21"/>
          <p:cNvSpPr/>
          <p:nvPr/>
        </p:nvSpPr>
        <p:spPr>
          <a:xfrm>
            <a:off x="4526280" y="2788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작업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26280" y="31089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공장 1개 · 라인 1개 파일럿 적용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핵심 사용자 10명 실사용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주간 피드백 세션 운영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26280" y="4800600"/>
            <a:ext cx="3063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2628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5166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파일럿 대시보드 · 사용자 피드백 리포트 · KPI 변화 측정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8046720" y="2011680"/>
            <a:ext cx="3611880" cy="64008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29" name="Text 27"/>
          <p:cNvSpPr/>
          <p:nvPr/>
        </p:nvSpPr>
        <p:spPr>
          <a:xfrm>
            <a:off x="8321040" y="210312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3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9966960" y="210312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M5–M6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21040" y="23317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Rollout &amp; Adoption</a:t>
            </a:r>
            <a:endParaRPr lang="en-US" sz="1300" dirty="0"/>
          </a:p>
        </p:txBody>
      </p:sp>
      <p:sp>
        <p:nvSpPr>
          <p:cNvPr id="32" name="Shape 30"/>
          <p:cNvSpPr/>
          <p:nvPr/>
        </p:nvSpPr>
        <p:spPr>
          <a:xfrm>
            <a:off x="8046720" y="2651760"/>
            <a:ext cx="3611880" cy="310896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3" name="Text 31"/>
          <p:cNvSpPr/>
          <p:nvPr/>
        </p:nvSpPr>
        <p:spPr>
          <a:xfrm>
            <a:off x="8321040" y="278892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작업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8321040" y="31089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2~3개 공장 단계적 확산 + 나머지 확산 계획 수립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실무자 교육 프로그램 운영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600"/>
              </a:spcAft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· 분기 단위 ROI · 사용률 측정 체계 수립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8321040" y="4800600"/>
            <a:ext cx="3063240" cy="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321040" y="4892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산출물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321040" y="516636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운영 매뉴얼 · 교육 자료 · 분기 성과 리포트 · 전사 확산 계획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각 Phase 종료 시 단계별 관문(Go/No-Go)을 두어, 성과가 기준치에 못 미치면 확장을 중단하고 구조를 재검토합니다.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· RISKS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11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리스크를 먼저 드립니다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과정에서 실제로 발생할 수 있는 리스크와 프로젝트 설계에 반영된 완화 방안입니다.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11680"/>
            <a:ext cx="11247120" cy="9601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4884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RISK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640080" y="2377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접근 권한 · 보안 정책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640080" y="269748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공장별 시스템 접근 권한 · 망분리 · 외부 솔루션 연동 정책이 달라 프로젝트 지연 가능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0" y="2148840"/>
            <a:ext cx="0" cy="6858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214884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4297680" y="237744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1에서 접근 권한 · 망분리 · 데이터 반출 가능 범위 · 로그 정책을 사전 점검. 폐쇄망 환경 시 온프레미스 옵션 검토.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10515600" y="2286000"/>
            <a:ext cx="1097280" cy="411480"/>
          </a:xfrm>
          <a:prstGeom prst="rect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0" y="228600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위험도 상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3063240"/>
            <a:ext cx="11247120" cy="9601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320040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RISK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40080" y="34290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품질 편차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640080" y="374904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공장의 데이터 포맷 · 입력 규칙이 달라, 통합 초기 정합성 이슈 발생 가능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114800" y="3200400"/>
            <a:ext cx="0" cy="6858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97680" y="320040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297680" y="342900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Discovery에서 데이터 품질 리포트 선제 작성. 활용 가능한 데이터 범위부터 단계적 확장.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10515600" y="3337560"/>
            <a:ext cx="1097280" cy="41148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25" name="Text 23"/>
          <p:cNvSpPr/>
          <p:nvPr/>
        </p:nvSpPr>
        <p:spPr>
          <a:xfrm>
            <a:off x="10515600" y="333756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위험도 중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57200" y="4114800"/>
            <a:ext cx="11247120" cy="9601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425196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RISK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640080" y="44805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실무자 활용도 저하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640080" y="480060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도구 학습 부담 · 기존 업무 방식 유지 선호로 도입 후 활용도 떨어질 위험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114800" y="4251960"/>
            <a:ext cx="0" cy="6858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297680" y="425196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297680" y="448056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2에서 핵심 사용자 10명과 주간 피드백 세션 운영. 자연어 인터페이스로 학습 비용 최소화.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10515600" y="4389120"/>
            <a:ext cx="1097280" cy="41148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34" name="Text 32"/>
          <p:cNvSpPr/>
          <p:nvPr/>
        </p:nvSpPr>
        <p:spPr>
          <a:xfrm>
            <a:off x="10515600" y="43891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위험도 중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457200" y="5166360"/>
            <a:ext cx="11247120" cy="9601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5303520"/>
            <a:ext cx="1371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B85042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RISK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640080" y="553212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판단에 대한 과신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640080" y="5852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AI가 제시한 원인 · 조치를 사람이 검증 없이 실행하면, 잘못된 판단이 누적될 가능성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114800" y="5303520"/>
            <a:ext cx="0" cy="685800"/>
          </a:xfrm>
          <a:prstGeom prst="line">
            <a:avLst/>
          </a:prstGeom>
          <a:noFill/>
          <a:ln w="6350">
            <a:solidFill>
              <a:srgbClr val="E5E7EB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297680" y="5303520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spc="400" kern="0" dirty="0">
                <a:solidFill>
                  <a:srgbClr val="65A88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MITIGATION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297680" y="5532120"/>
            <a:ext cx="5943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05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중요 의사결정에는 실무자 최종 승인 단계(HITL) 필수 배치. 답변 근거 자동 표시.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0515600" y="5440680"/>
            <a:ext cx="1097280" cy="41148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43" name="Text 41"/>
          <p:cNvSpPr/>
          <p:nvPr/>
        </p:nvSpPr>
        <p:spPr>
          <a:xfrm>
            <a:off x="10515600" y="544068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위험도 중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· NEXT STEPS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12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 · 사전 진단 워크숍 제안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문서는 가상 시나리오 기반의 1차 제안서 샘플입니다. 실제 도입 전에는 A사 현장 데이터와 인터뷰를 바탕으로 사전 진단을 진행합니다.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5486400" cy="393192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9" name="Shape 7"/>
          <p:cNvSpPr/>
          <p:nvPr/>
        </p:nvSpPr>
        <p:spPr>
          <a:xfrm>
            <a:off x="457200" y="2194560"/>
            <a:ext cx="54864" cy="393192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331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진단 워크숍 · 0.5일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640080" y="2788920"/>
            <a:ext cx="1371600" cy="0"/>
          </a:xfrm>
          <a:prstGeom prst="line">
            <a:avLst/>
          </a:prstGeom>
          <a:noFill/>
          <a:ln w="19050">
            <a:solidFill>
              <a:srgbClr val="0F172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92608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현장 Walk-through · 60분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   3개 공장 중 대표 1곳 동행 · 실제 업무 흐름 관찰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핵심 3팀 인터뷰 · 90분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   품질 · 생산계획 · 공정기술팀 각 담당자와 Use Case 도출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3. 데이터 진단 리포트 · 1주 내 전달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   현재 데이터 품질 · 통합 가능성 · 도입 비용 정밀 추정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0" y="2194560"/>
            <a:ext cx="5486400" cy="393192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0" y="233172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진단 후 전달 자료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6400800" y="2788920"/>
            <a:ext cx="1371600" cy="0"/>
          </a:xfrm>
          <a:prstGeom prst="line">
            <a:avLst/>
          </a:prstGeom>
          <a:noFill/>
          <a:ln w="190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00800" y="2926080"/>
            <a:ext cx="512064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전용 정밀 ROI 리포트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   본 제안서의 추정치를 실제 데이터로 재산정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상세 제안서 · 계약안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   도입 범위 · 일정 · 비용 · KPI 정식 문서화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정부지원사업 연계 옵션 안내</a:t>
            </a:r>
            <a:endParaRPr lang="en-US" sz="1100" dirty="0"/>
          </a:p>
          <a:p>
            <a:pPr indent="0" marL="0">
              <a:lnSpc>
                <a:spcPts val="1700"/>
              </a:lnSpc>
              <a:spcAft>
                <a:spcPts val="400"/>
              </a:spcAft>
              <a:buNone/>
            </a:pPr>
            <a:r>
              <a:rPr lang="en-US" sz="11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   AI바우처 · 스마트공장 활용 시 비용 분담 시나리오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사전 진단의 범위 · 비용 조건은 사전 협의 후 확정합니다. 본 샘플에서는 무상 진단 시나리오로 가정했습니다.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· WHY NOW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도입 타이밍에 대해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82880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4400" dirty="0"/>
          </a:p>
        </p:txBody>
      </p:sp>
      <p:sp>
        <p:nvSpPr>
          <p:cNvPr id="8" name="Shape 6"/>
          <p:cNvSpPr/>
          <p:nvPr/>
        </p:nvSpPr>
        <p:spPr>
          <a:xfrm>
            <a:off x="1645920" y="2011680"/>
            <a:ext cx="0" cy="100584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20240" y="19659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시간이 갈수록 누적됩니다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920240" y="242316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품질 클레임 · 재고 회전일수는 최근 2년간 악화 추세로 가정. 데이터 단절 구조가 유지되는 한, 같은 문제가 반복되면서 운영 손실이 점진적으로 쌓입니다.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32918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4400" dirty="0"/>
          </a:p>
        </p:txBody>
      </p:sp>
      <p:sp>
        <p:nvSpPr>
          <p:cNvPr id="12" name="Shape 10"/>
          <p:cNvSpPr/>
          <p:nvPr/>
        </p:nvSpPr>
        <p:spPr>
          <a:xfrm>
            <a:off x="1645920" y="3474720"/>
            <a:ext cx="0" cy="100584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920240" y="34290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정부지원사업 연계 가능성을 검토할 수 있습니다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920240" y="388620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AI바우처 · 스마트공장 · 데이터바우처 등 정부지원사업과의 연계 가능성이 있어, 실제 도입 전 해당 연도 공고의 지원 대상 · 마감 · 자부담 조건을 확인해 비용 부담을 낮추는 방안을 검토할 수 있습니다.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75488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4400" dirty="0"/>
          </a:p>
        </p:txBody>
      </p:sp>
      <p:sp>
        <p:nvSpPr>
          <p:cNvPr id="16" name="Shape 14"/>
          <p:cNvSpPr/>
          <p:nvPr/>
        </p:nvSpPr>
        <p:spPr>
          <a:xfrm>
            <a:off x="1645920" y="4937760"/>
            <a:ext cx="0" cy="100584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20240" y="4892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자산 정비가 빠를수록 활용 폭이 넓어집니다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920240" y="534924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제조업 전반에서 데이터 기반 운영 의사결정 도입이 빨라지고 있습니다. 내부 데이터 자산을 먼저 정비한 기업일수록 이후 AI 활용 범위가 넓어질 가능성이 큽니다.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626364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도입 시기는 A사 사업 우선순위와 정부지원사업 일정 등을 종합해 결정합니다.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A사 AI 도입 제안서 · 윤상훈 · Sample for Dfinite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400" kern="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· APPENDIX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11247120" y="6492240"/>
            <a:ext cx="822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CA3A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 / 14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457200" y="685800"/>
            <a:ext cx="112471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Appendix · 정부지원사업 사업계획서로의 확장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325880"/>
            <a:ext cx="11247120" cy="0"/>
          </a:xfrm>
          <a:prstGeom prst="line">
            <a:avLst/>
          </a:prstGeom>
          <a:noFill/>
          <a:ln w="9525">
            <a:solidFill>
              <a:srgbClr val="E5E7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4630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2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제안서의 구조는 정부지원사업 사업계획서의 주요 평가 항목으로 재구성하기 쉬운 골격으로 설계했습니다. 실제 제출 시에는 해당 연도 공고문과 평가표 기준으로 재작성해야 합니다.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194560"/>
            <a:ext cx="11247120" cy="502920"/>
          </a:xfrm>
          <a:prstGeom prst="rect">
            <a:avLst/>
          </a:prstGeom>
          <a:solidFill>
            <a:srgbClr val="1C1F26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지원사업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200400" y="219456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규모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0" y="219456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제안서와의 매핑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2697480"/>
            <a:ext cx="11247120" cy="9144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6974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AI바우처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00400" y="26974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규모는 연도별 공고 확인 필요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26974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제안의 Phase 1~2에 해당. 수요기업(A사) - 공급기업 컨소시엄 형태 신청 가능.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11880"/>
            <a:ext cx="11247120" cy="914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6118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스마트공장 (제조AI 트랙)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3200400" y="36118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규모는 연도별 공고 확인 필요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36118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2~3 + 공장 확산 범위 확장. 제조 현장 AI 도입 공고 부합.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526280"/>
            <a:ext cx="11247120" cy="914400"/>
          </a:xfrm>
          <a:prstGeom prst="rect">
            <a:avLst/>
          </a:prstGeom>
          <a:solidFill>
            <a:srgbClr val="F9FAF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526280"/>
            <a:ext cx="25603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데이터바우처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3200400" y="452628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규모는 연도별 공고 확인 필요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400800" y="452628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1의 데이터 통합 · 품질 정비 단계를 별도 과제로 분리 신청 가능.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F1F5F9"/>
          </a:solidFill>
          <a:ln/>
        </p:spPr>
      </p:sp>
      <p:sp>
        <p:nvSpPr>
          <p:cNvPr id="25" name="Text 23"/>
          <p:cNvSpPr/>
          <p:nvPr/>
        </p:nvSpPr>
        <p:spPr>
          <a:xfrm>
            <a:off x="731520" y="576072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0F172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핵심 관점 · 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정부지원사업 사업계획서는 평가 항목이 매년 다릅니다. 본 제안서는 </a:t>
            </a:r>
            <a:pPr indent="0" marL="0">
              <a:lnSpc>
                <a:spcPts val="1800"/>
              </a:lnSpc>
              <a:buNone/>
            </a:pPr>
            <a:r>
              <a:rPr lang="en-US" sz="1100" b="1" dirty="0">
                <a:solidFill>
                  <a:srgbClr val="1C1F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· 도입 필요성 · 추진 계획 · 기대효과 · 리스크 관리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5C616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 xml:space="preserve"> 항목으로 재구성하기 쉬운 골격으로 설계되어 있어, 공고별 양식에 맞춰 빠르게 전환 가능합니다.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A사 AI 도입 제안서 · Sample for Dfinite</dc:title>
  <dc:subject>PptxGenJS Presentation</dc:subject>
  <dc:creator>Sanghoon Yoon</dc:creator>
  <cp:lastModifiedBy>Sanghoon Yoon</cp:lastModifiedBy>
  <cp:revision>1</cp:revision>
  <dcterms:created xsi:type="dcterms:W3CDTF">2026-04-24T10:12:12Z</dcterms:created>
  <dcterms:modified xsi:type="dcterms:W3CDTF">2026-04-24T10:12:12Z</dcterms:modified>
</cp:coreProperties>
</file>